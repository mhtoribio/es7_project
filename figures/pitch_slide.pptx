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7201"/>
    <a:srgbClr val="4D99D0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8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30D299-A61A-711A-2CBB-AE8707F3C8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63F4A35C-44E8-7479-2BE2-45E6B2E946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BE4DCDF-2FDA-C6E5-8793-4B400B792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B5E38-770D-4F4B-95B2-38C81A0BF047}" type="datetimeFigureOut">
              <a:rPr lang="da-DK" smtClean="0"/>
              <a:t>11-11-2025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F8C8436-0C5F-E42C-A9F6-03D8C9A73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6EF3E9A-D4DA-EFF4-3351-9E2BA2B3D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0CC1-CC1C-4698-8DED-BDA49F039CE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43181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C03F59-C63C-0E4E-E7B5-C40F346E0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C0B11E0-D2F3-9F41-DC56-FD504A66E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FA3E170-A5E3-1B53-3B6F-6835B417A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B5E38-770D-4F4B-95B2-38C81A0BF047}" type="datetimeFigureOut">
              <a:rPr lang="da-DK" smtClean="0"/>
              <a:t>11-11-2025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239606F-B508-F44E-2106-C7DB37D22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A28573E-A7A3-B847-7DA8-9696663D0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0CC1-CC1C-4698-8DED-BDA49F039CE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10957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FD858D-B123-EE69-4E54-F9799B4A6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589680AD-77EB-8A92-102F-312A941AB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6FA01D1-284F-D20B-462E-CC0ADC60E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B5E38-770D-4F4B-95B2-38C81A0BF047}" type="datetimeFigureOut">
              <a:rPr lang="da-DK" smtClean="0"/>
              <a:t>11-11-2025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5C935DC-2C8F-39ED-BE5B-303F7B7EB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F3D1379-2E08-309C-CF18-146528027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0CC1-CC1C-4698-8DED-BDA49F039CE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44498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0DBF2A-88CD-4296-3DFC-C174BF224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E58C8C8-F17D-CB77-E2D1-1BD9A47288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D92CE07-4121-4836-9302-F1C744008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B68800C5-5D1C-B4DE-626C-112B1B3A3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B5E38-770D-4F4B-95B2-38C81A0BF047}" type="datetimeFigureOut">
              <a:rPr lang="da-DK" smtClean="0"/>
              <a:t>11-11-2025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5AD09BB-29D3-9F62-CEBB-AB1A66DDD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418083EF-C6FF-D427-668F-469B606E7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0CC1-CC1C-4698-8DED-BDA49F039CE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5769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9F96E8-04F0-2FA9-CDE1-BE4FA43E1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FA36ADD-F9DC-FA60-3EC7-00AD63B27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94187E98-F9D9-5DF6-7FB1-828D698C6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4695BAEC-8771-C003-9316-41E17E0E3A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328FBFFE-81E4-3E5F-08D9-CAF598170D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7271A2F9-D3F9-7FE2-A8C6-4FC2E2210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B5E38-770D-4F4B-95B2-38C81A0BF047}" type="datetimeFigureOut">
              <a:rPr lang="da-DK" smtClean="0"/>
              <a:t>11-11-2025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D7B0092-3240-CED6-CAB4-A384FDAA6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376050FD-D6A2-43F2-B83A-7AEC28120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0CC1-CC1C-4698-8DED-BDA49F039CE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05345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27D0A7-B8A1-12EE-A4B3-E5827528D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307F5440-5D72-2982-41CC-1A2006B91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B5E38-770D-4F4B-95B2-38C81A0BF047}" type="datetimeFigureOut">
              <a:rPr lang="da-DK" smtClean="0"/>
              <a:t>11-11-2025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EAC0ACF2-76A2-20B5-51C6-87EACC952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DF6AC5C0-2F4F-61F0-CF38-2FB8938ED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0CC1-CC1C-4698-8DED-BDA49F039CE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53278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1D050AF1-ED39-E665-6DD7-E436C1266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B5E38-770D-4F4B-95B2-38C81A0BF047}" type="datetimeFigureOut">
              <a:rPr lang="da-DK" smtClean="0"/>
              <a:t>11-11-2025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38DB1842-49DA-22F5-8ED4-6C26D9BB1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D05FA93-FEC3-2B5A-90FA-1E51C4C81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0CC1-CC1C-4698-8DED-BDA49F039CE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11740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BF4A0B-A359-542E-5611-0AE139DDD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0B8B4D8-B41D-5DDD-78CE-25FE51030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13FACEEC-135B-F808-6397-A81BE8FEF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B73B157-DD5A-CD92-0AD7-C66E22756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B5E38-770D-4F4B-95B2-38C81A0BF047}" type="datetimeFigureOut">
              <a:rPr lang="da-DK" smtClean="0"/>
              <a:t>11-11-2025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9E4030D0-73E1-31F8-8511-8CBF2693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05C15B6E-7B83-FA06-4D21-081C6CB05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0CC1-CC1C-4698-8DED-BDA49F039CE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45065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22C4D9-327C-0A81-38AA-1D562DBD7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4B94616C-B756-ED4C-356B-A3D82B812C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B010C08F-E53B-5C87-3002-C1D97DDA5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469C2CF2-DDB3-3D1A-FA4E-A852CC4A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B5E38-770D-4F4B-95B2-38C81A0BF047}" type="datetimeFigureOut">
              <a:rPr lang="da-DK" smtClean="0"/>
              <a:t>11-11-2025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ABEB0FA9-DD15-1DE8-0D07-2356F888A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4C3FED3B-E5A0-4D79-7E16-88DA47914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0CC1-CC1C-4698-8DED-BDA49F039CE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89010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F1B9A0-C5A0-6A64-5844-DC0A9836D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C8E084F6-56D5-F734-5F86-724A992658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B968CBE-AA3A-B465-74DD-A2D249723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B5E38-770D-4F4B-95B2-38C81A0BF047}" type="datetimeFigureOut">
              <a:rPr lang="da-DK" smtClean="0"/>
              <a:t>11-11-2025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3F7B91B-485E-4A69-61EF-74A6CDA77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9EBCFF6-0D19-E55D-1936-68EC221A9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0CC1-CC1C-4698-8DED-BDA49F039CE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88447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AE4DA2B5-15D7-D1CD-A05B-C86BD98484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B870D2DC-6F9A-664A-15B4-436834448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44B8EA3-C9B6-FED6-4BF0-6F8F1F3AB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B5E38-770D-4F4B-95B2-38C81A0BF047}" type="datetimeFigureOut">
              <a:rPr lang="da-DK" smtClean="0"/>
              <a:t>11-11-2025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FE831B0-3024-9F7F-3729-959F3C12C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C72039D-9B86-1FA1-D6F2-4FC385A07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0CC1-CC1C-4698-8DED-BDA49F039CE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5929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DE0AFC98-30F2-8263-F4FF-D7D35A7E9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77CAC48A-2FF1-8FDD-903F-E68922166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2434846-2A92-44A0-1817-C525BBF106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4B5E38-770D-4F4B-95B2-38C81A0BF047}" type="datetimeFigureOut">
              <a:rPr lang="da-DK" smtClean="0"/>
              <a:t>11-11-2025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43D196C-E7B7-5D6A-FECD-CEB5D217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7CF1DF8-0AC8-2299-CBE5-B63D00683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060CC1-CC1C-4698-8DED-BDA49F039CE1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96222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kstfelt 81">
            <a:extLst>
              <a:ext uri="{FF2B5EF4-FFF2-40B4-BE49-F238E27FC236}">
                <a16:creationId xmlns:a16="http://schemas.microsoft.com/office/drawing/2014/main" id="{5858A5E9-7591-78E7-7255-4D269BD148EC}"/>
              </a:ext>
            </a:extLst>
          </p:cNvPr>
          <p:cNvSpPr txBox="1"/>
          <p:nvPr/>
        </p:nvSpPr>
        <p:spPr>
          <a:xfrm>
            <a:off x="-2" y="9832"/>
            <a:ext cx="12192001" cy="684816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da-DK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95BB716-1430-2DCC-A88A-23FB10975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32"/>
            <a:ext cx="12192000" cy="1030289"/>
          </a:xfr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pPr algn="ctr"/>
            <a:r>
              <a:rPr lang="en-US" sz="2800" b="1" noProof="0" dirty="0"/>
              <a:t>SPEECH ENHANCEMENT ALGORITHMS, DATA GENERATION &amp; EVALUATION</a:t>
            </a:r>
          </a:p>
        </p:txBody>
      </p:sp>
      <p:sp>
        <p:nvSpPr>
          <p:cNvPr id="40" name="Rektangel 39">
            <a:extLst>
              <a:ext uri="{FF2B5EF4-FFF2-40B4-BE49-F238E27FC236}">
                <a16:creationId xmlns:a16="http://schemas.microsoft.com/office/drawing/2014/main" id="{B5148776-2310-4CA2-9FAC-52512EF93823}"/>
              </a:ext>
            </a:extLst>
          </p:cNvPr>
          <p:cNvSpPr/>
          <p:nvPr/>
        </p:nvSpPr>
        <p:spPr>
          <a:xfrm>
            <a:off x="-2" y="3941032"/>
            <a:ext cx="12192001" cy="2907136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gradFill>
                <a:gsLst>
                  <a:gs pos="42000">
                    <a:schemeClr val="accent2">
                      <a:lumMod val="60000"/>
                      <a:lumOff val="40000"/>
                    </a:schemeClr>
                  </a:gs>
                  <a:gs pos="82000">
                    <a:schemeClr val="accent2">
                      <a:lumMod val="7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9" name="Rektangel: afrundede hjørner 8">
            <a:extLst>
              <a:ext uri="{FF2B5EF4-FFF2-40B4-BE49-F238E27FC236}">
                <a16:creationId xmlns:a16="http://schemas.microsoft.com/office/drawing/2014/main" id="{FC747598-30CF-35AB-FA8C-7122751B3EDE}"/>
              </a:ext>
            </a:extLst>
          </p:cNvPr>
          <p:cNvSpPr/>
          <p:nvPr/>
        </p:nvSpPr>
        <p:spPr>
          <a:xfrm>
            <a:off x="6436883" y="4703381"/>
            <a:ext cx="5594400" cy="194998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en-US" noProof="0" dirty="0"/>
              <a:t>Flexible Algorithmic Choice</a:t>
            </a:r>
          </a:p>
          <a:p>
            <a:pPr marL="742950" lvl="1" indent="-285750">
              <a:buFontTx/>
              <a:buChar char="-"/>
            </a:pPr>
            <a:r>
              <a:rPr lang="en-US" sz="1600" noProof="0" dirty="0"/>
              <a:t>ISCLP-KF</a:t>
            </a:r>
          </a:p>
          <a:p>
            <a:pPr marL="742950" lvl="1" indent="-285750">
              <a:buFontTx/>
              <a:buChar char="-"/>
            </a:pPr>
            <a:r>
              <a:rPr lang="en-US" sz="1600" noProof="0" dirty="0"/>
              <a:t>ISCLP-KF using neural network</a:t>
            </a:r>
          </a:p>
          <a:p>
            <a:pPr marL="742950" lvl="1" indent="-285750">
              <a:buFontTx/>
              <a:buChar char="-"/>
            </a:pPr>
            <a:r>
              <a:rPr lang="en-US" sz="1600" noProof="0" dirty="0"/>
              <a:t>Implement your own</a:t>
            </a:r>
            <a:endParaRPr lang="en-US" sz="1600" noProof="0" dirty="0">
              <a:sym typeface="Wingdings" panose="05000000000000000000" pitchFamily="2" charset="2"/>
            </a:endParaRPr>
          </a:p>
          <a:p>
            <a:pPr marL="285750" indent="-285750">
              <a:buFontTx/>
              <a:buChar char="-"/>
            </a:pPr>
            <a:r>
              <a:rPr lang="en-US" noProof="0" dirty="0">
                <a:sym typeface="Wingdings" panose="05000000000000000000" pitchFamily="2" charset="2"/>
              </a:rPr>
              <a:t>Metrics Evaluation</a:t>
            </a:r>
          </a:p>
          <a:p>
            <a:pPr marL="742950" lvl="1" indent="-285750">
              <a:buFontTx/>
              <a:buChar char="-"/>
            </a:pPr>
            <a:r>
              <a:rPr lang="en-US" sz="1600" noProof="0" dirty="0">
                <a:sym typeface="Wingdings" panose="05000000000000000000" pitchFamily="2" charset="2"/>
              </a:rPr>
              <a:t>PESQ, E-STOI, SRMR, DNSMOS</a:t>
            </a:r>
            <a:endParaRPr lang="en-US" sz="1600" noProof="0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A0AA88D-8A0B-BE5B-1FB3-80058241B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65354"/>
            <a:ext cx="6095995" cy="2364871"/>
          </a:xfrm>
        </p:spPr>
        <p:txBody>
          <a:bodyPr wrap="square" lIns="90000" rIns="90000">
            <a:normAutofit/>
          </a:bodyPr>
          <a:lstStyle/>
          <a:p>
            <a:pPr marL="457200" lvl="1" indent="0">
              <a:lnSpc>
                <a:spcPts val="2300"/>
              </a:lnSpc>
              <a:buNone/>
            </a:pPr>
            <a:r>
              <a:rPr lang="en-US" sz="1600" noProof="0" dirty="0"/>
              <a:t>Provide a flexible framework for data generation and evaluation of speech enhancement algorithms aimed at reducing interferent speech, noise, and reverberation for distant speech in conference rooms.</a:t>
            </a:r>
          </a:p>
          <a:p>
            <a:pPr lvl="1">
              <a:lnSpc>
                <a:spcPts val="2300"/>
              </a:lnSpc>
            </a:pPr>
            <a:r>
              <a:rPr lang="en-US" sz="1600" noProof="0" dirty="0"/>
              <a:t>Baseline algorithm: ISCLP Kalman Filter proposed by Thomas Dietzen.</a:t>
            </a:r>
          </a:p>
          <a:p>
            <a:pPr lvl="1"/>
            <a:r>
              <a:rPr lang="en-US" sz="1600" noProof="0" dirty="0"/>
              <a:t>Enhancing ISCLP-KF with machine learning.</a:t>
            </a:r>
          </a:p>
          <a:p>
            <a:pPr lvl="1"/>
            <a:endParaRPr lang="en-US" sz="1600" noProof="0" dirty="0"/>
          </a:p>
          <a:p>
            <a:pPr lvl="1"/>
            <a:endParaRPr lang="en-US" sz="2200" noProof="0" dirty="0"/>
          </a:p>
        </p:txBody>
      </p:sp>
      <p:cxnSp>
        <p:nvCxnSpPr>
          <p:cNvPr id="12" name="Lige pilforbindelse 11">
            <a:extLst>
              <a:ext uri="{FF2B5EF4-FFF2-40B4-BE49-F238E27FC236}">
                <a16:creationId xmlns:a16="http://schemas.microsoft.com/office/drawing/2014/main" id="{338C42A4-C065-6CDF-61DE-8349356C6322}"/>
              </a:ext>
            </a:extLst>
          </p:cNvPr>
          <p:cNvCxnSpPr>
            <a:cxnSpLocks/>
            <a:stCxn id="19" idx="3"/>
            <a:endCxn id="9" idx="1"/>
          </p:cNvCxnSpPr>
          <p:nvPr/>
        </p:nvCxnSpPr>
        <p:spPr>
          <a:xfrm flipV="1">
            <a:off x="5810865" y="5678375"/>
            <a:ext cx="626018" cy="51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Rektangel: afrundede hjørner 18">
            <a:extLst>
              <a:ext uri="{FF2B5EF4-FFF2-40B4-BE49-F238E27FC236}">
                <a16:creationId xmlns:a16="http://schemas.microsoft.com/office/drawing/2014/main" id="{8093BD46-459C-AACC-BBB1-772C0A9A42BD}"/>
              </a:ext>
            </a:extLst>
          </p:cNvPr>
          <p:cNvSpPr/>
          <p:nvPr/>
        </p:nvSpPr>
        <p:spPr>
          <a:xfrm>
            <a:off x="216306" y="4703290"/>
            <a:ext cx="5594559" cy="19512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  <a:p>
            <a:pPr algn="ctr"/>
            <a:endParaRPr lang="en-US" noProof="0" dirty="0"/>
          </a:p>
          <a:p>
            <a:pPr algn="ctr"/>
            <a:r>
              <a:rPr lang="en-US" noProof="0" dirty="0"/>
              <a:t>Configuration Options:</a:t>
            </a:r>
          </a:p>
          <a:p>
            <a:pPr marL="285750" indent="-285750">
              <a:buFontTx/>
              <a:buChar char="-"/>
            </a:pPr>
            <a:r>
              <a:rPr lang="en-US" sz="1600" noProof="0" dirty="0"/>
              <a:t>Sources (speakers, movement, locations and directions)</a:t>
            </a:r>
          </a:p>
          <a:p>
            <a:pPr marL="285750" indent="-285750">
              <a:buFontTx/>
              <a:buChar char="-"/>
            </a:pPr>
            <a:r>
              <a:rPr lang="en-US" sz="1600" noProof="0" dirty="0"/>
              <a:t>Rooms (dimensions, RT60, mic placement)</a:t>
            </a:r>
          </a:p>
          <a:p>
            <a:pPr marL="285750" indent="-285750">
              <a:buFontTx/>
              <a:buChar char="-"/>
            </a:pPr>
            <a:r>
              <a:rPr lang="en-US" sz="1600" noProof="0" dirty="0"/>
              <a:t>Sample Rate, STFT settings</a:t>
            </a:r>
          </a:p>
          <a:p>
            <a:pPr marL="285750" indent="-285750">
              <a:buFontTx/>
              <a:buChar char="-"/>
            </a:pPr>
            <a:r>
              <a:rPr lang="en-US" sz="1600" noProof="0" dirty="0"/>
              <a:t>Clean speech files from DNS-Challenge</a:t>
            </a:r>
          </a:p>
          <a:p>
            <a:pPr marL="285750" indent="-285750">
              <a:buFontTx/>
              <a:buChar char="-"/>
            </a:pPr>
            <a:r>
              <a:rPr lang="en-US" sz="1600" noProof="0" dirty="0"/>
              <a:t>Number of rooms and scenarios</a:t>
            </a:r>
          </a:p>
          <a:p>
            <a:pPr marL="285750" indent="-285750">
              <a:buFontTx/>
              <a:buChar char="-"/>
            </a:pPr>
            <a:endParaRPr lang="en-US" noProof="0" dirty="0"/>
          </a:p>
          <a:p>
            <a:pPr algn="ctr"/>
            <a:r>
              <a:rPr lang="en-US" noProof="0" dirty="0"/>
              <a:t> </a:t>
            </a:r>
          </a:p>
        </p:txBody>
      </p:sp>
      <p:sp>
        <p:nvSpPr>
          <p:cNvPr id="21" name="Tekstfelt 20">
            <a:extLst>
              <a:ext uri="{FF2B5EF4-FFF2-40B4-BE49-F238E27FC236}">
                <a16:creationId xmlns:a16="http://schemas.microsoft.com/office/drawing/2014/main" id="{DC096A6B-AD17-9F1E-81BB-7F638DB92AA1}"/>
              </a:ext>
            </a:extLst>
          </p:cNvPr>
          <p:cNvSpPr txBox="1"/>
          <p:nvPr/>
        </p:nvSpPr>
        <p:spPr>
          <a:xfrm>
            <a:off x="216304" y="4333958"/>
            <a:ext cx="5594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Flexible Data Generation</a:t>
            </a:r>
          </a:p>
        </p:txBody>
      </p:sp>
      <p:sp>
        <p:nvSpPr>
          <p:cNvPr id="39" name="Tekstfelt 38">
            <a:extLst>
              <a:ext uri="{FF2B5EF4-FFF2-40B4-BE49-F238E27FC236}">
                <a16:creationId xmlns:a16="http://schemas.microsoft.com/office/drawing/2014/main" id="{19BD85FC-0B6A-9F00-BDEF-E53E65D6437A}"/>
              </a:ext>
            </a:extLst>
          </p:cNvPr>
          <p:cNvSpPr txBox="1"/>
          <p:nvPr/>
        </p:nvSpPr>
        <p:spPr>
          <a:xfrm>
            <a:off x="0" y="3959533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noProof="0" dirty="0"/>
              <a:t>2025 Framework</a:t>
            </a:r>
          </a:p>
        </p:txBody>
      </p:sp>
      <p:sp>
        <p:nvSpPr>
          <p:cNvPr id="49" name="Tekstfelt 48">
            <a:extLst>
              <a:ext uri="{FF2B5EF4-FFF2-40B4-BE49-F238E27FC236}">
                <a16:creationId xmlns:a16="http://schemas.microsoft.com/office/drawing/2014/main" id="{CCA997AA-B241-870C-68BD-39EA9A2C7FE0}"/>
              </a:ext>
            </a:extLst>
          </p:cNvPr>
          <p:cNvSpPr txBox="1"/>
          <p:nvPr/>
        </p:nvSpPr>
        <p:spPr>
          <a:xfrm>
            <a:off x="6436882" y="4333958"/>
            <a:ext cx="5594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Algorithms &amp; Evaluation</a:t>
            </a:r>
          </a:p>
        </p:txBody>
      </p:sp>
      <p:cxnSp>
        <p:nvCxnSpPr>
          <p:cNvPr id="59" name="Lige forbindelse 58">
            <a:extLst>
              <a:ext uri="{FF2B5EF4-FFF2-40B4-BE49-F238E27FC236}">
                <a16:creationId xmlns:a16="http://schemas.microsoft.com/office/drawing/2014/main" id="{D3D806AA-D936-ACE6-13CA-56D558FBCED6}"/>
              </a:ext>
            </a:extLst>
          </p:cNvPr>
          <p:cNvCxnSpPr>
            <a:cxnSpLocks/>
          </p:cNvCxnSpPr>
          <p:nvPr/>
        </p:nvCxnSpPr>
        <p:spPr>
          <a:xfrm>
            <a:off x="6096000" y="943897"/>
            <a:ext cx="0" cy="267198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2" name="Tekstfelt 71">
            <a:extLst>
              <a:ext uri="{FF2B5EF4-FFF2-40B4-BE49-F238E27FC236}">
                <a16:creationId xmlns:a16="http://schemas.microsoft.com/office/drawing/2014/main" id="{8C859897-0766-52BB-2949-2728124CAAF9}"/>
              </a:ext>
            </a:extLst>
          </p:cNvPr>
          <p:cNvSpPr txBox="1"/>
          <p:nvPr/>
        </p:nvSpPr>
        <p:spPr>
          <a:xfrm>
            <a:off x="6095939" y="3184999"/>
            <a:ext cx="609606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Expand framework (Noise sources, conversation scenario)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Estimation of other parameters with machine learning</a:t>
            </a:r>
          </a:p>
          <a:p>
            <a:endParaRPr lang="da-DK" dirty="0"/>
          </a:p>
        </p:txBody>
      </p:sp>
      <p:sp>
        <p:nvSpPr>
          <p:cNvPr id="73" name="Tekstfelt 72">
            <a:extLst>
              <a:ext uri="{FF2B5EF4-FFF2-40B4-BE49-F238E27FC236}">
                <a16:creationId xmlns:a16="http://schemas.microsoft.com/office/drawing/2014/main" id="{93E29BBC-F94C-25E6-D574-590BBF92AC44}"/>
              </a:ext>
            </a:extLst>
          </p:cNvPr>
          <p:cNvSpPr txBox="1"/>
          <p:nvPr/>
        </p:nvSpPr>
        <p:spPr>
          <a:xfrm>
            <a:off x="6095979" y="1446323"/>
            <a:ext cx="60960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600" noProof="0" dirty="0"/>
              <a:t>Implementation of functional framework with: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Flexible configuration options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Evaluation of baseline and enhanced algorithm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Training and validation for machine learning models</a:t>
            </a:r>
          </a:p>
        </p:txBody>
      </p:sp>
      <p:sp>
        <p:nvSpPr>
          <p:cNvPr id="77" name="Tekstfelt 76">
            <a:extLst>
              <a:ext uri="{FF2B5EF4-FFF2-40B4-BE49-F238E27FC236}">
                <a16:creationId xmlns:a16="http://schemas.microsoft.com/office/drawing/2014/main" id="{725C5B4E-A329-FCFE-8066-8C3412E97669}"/>
              </a:ext>
            </a:extLst>
          </p:cNvPr>
          <p:cNvSpPr txBox="1"/>
          <p:nvPr/>
        </p:nvSpPr>
        <p:spPr>
          <a:xfrm>
            <a:off x="6095979" y="900910"/>
            <a:ext cx="6095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/>
              <a:t>2025 </a:t>
            </a:r>
            <a:r>
              <a:rPr lang="da-DK" sz="2400" b="1" dirty="0" err="1"/>
              <a:t>Goal</a:t>
            </a:r>
            <a:endParaRPr lang="da-DK" sz="2400" b="1" dirty="0"/>
          </a:p>
        </p:txBody>
      </p:sp>
      <p:sp>
        <p:nvSpPr>
          <p:cNvPr id="78" name="Tekstfelt 77">
            <a:extLst>
              <a:ext uri="{FF2B5EF4-FFF2-40B4-BE49-F238E27FC236}">
                <a16:creationId xmlns:a16="http://schemas.microsoft.com/office/drawing/2014/main" id="{1B68085E-510E-617E-D74B-33F45BE2D1EC}"/>
              </a:ext>
            </a:extLst>
          </p:cNvPr>
          <p:cNvSpPr txBox="1"/>
          <p:nvPr/>
        </p:nvSpPr>
        <p:spPr>
          <a:xfrm>
            <a:off x="0" y="900910"/>
            <a:ext cx="6095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/>
              <a:t>Project </a:t>
            </a:r>
            <a:r>
              <a:rPr lang="da-DK" sz="2400" b="1" dirty="0" err="1"/>
              <a:t>Aim</a:t>
            </a:r>
            <a:endParaRPr lang="da-DK" sz="2400" b="1" dirty="0"/>
          </a:p>
        </p:txBody>
      </p:sp>
      <p:sp>
        <p:nvSpPr>
          <p:cNvPr id="79" name="Tekstfelt 78">
            <a:extLst>
              <a:ext uri="{FF2B5EF4-FFF2-40B4-BE49-F238E27FC236}">
                <a16:creationId xmlns:a16="http://schemas.microsoft.com/office/drawing/2014/main" id="{D22EDAC2-A1AE-A3CC-3274-EACE4E33F56C}"/>
              </a:ext>
            </a:extLst>
          </p:cNvPr>
          <p:cNvSpPr txBox="1"/>
          <p:nvPr/>
        </p:nvSpPr>
        <p:spPr>
          <a:xfrm>
            <a:off x="6095979" y="2719404"/>
            <a:ext cx="6095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b="1" dirty="0"/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4098093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165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Office-tema</vt:lpstr>
      <vt:lpstr>SPEECH ENHANCEMENT ALGORITHMS, DATA GENERATION &amp; EVALUATION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Mathias Jørgensen</dc:creator>
  <cp:lastModifiedBy>Mathias Jørgensen</cp:lastModifiedBy>
  <cp:revision>1</cp:revision>
  <dcterms:created xsi:type="dcterms:W3CDTF">2025-11-11T08:21:49Z</dcterms:created>
  <dcterms:modified xsi:type="dcterms:W3CDTF">2025-11-11T14:43:19Z</dcterms:modified>
</cp:coreProperties>
</file>